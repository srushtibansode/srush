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147477460"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91C5C4-C0D6-4D6C-AC77-3BD91A035AAB}" type="datetimeFigureOut">
              <a:rPr lang="en-IN" smtClean="0"/>
              <a:t>16-02-2026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FB67F4-3EF3-4B8E-B692-6E3D53A72CE3}" type="slidenum">
              <a:rPr lang="en-IN" smtClean="0"/>
              <a:t>‹#›</a:t>
            </a:fld>
            <a:endParaRPr lang="en-IN"/>
          </a:p>
        </p:txBody>
      </p:sp>
    </p:spTree>
    <p:extLst>
      <p:ext uri="{BB962C8B-B14F-4D97-AF65-F5344CB8AC3E}">
        <p14:creationId xmlns:p14="http://schemas.microsoft.com/office/powerpoint/2010/main" val="207874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DFB67F4-3EF3-4B8E-B692-6E3D53A72CE3}" type="slidenum">
              <a:rPr lang="en-IN" smtClean="0"/>
              <a:t>1</a:t>
            </a:fld>
            <a:endParaRPr lang="en-IN"/>
          </a:p>
        </p:txBody>
      </p:sp>
    </p:spTree>
    <p:extLst>
      <p:ext uri="{BB962C8B-B14F-4D97-AF65-F5344CB8AC3E}">
        <p14:creationId xmlns:p14="http://schemas.microsoft.com/office/powerpoint/2010/main" val="39455003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rgbClr val="272936"/>
        </a:solidFill>
        <a:effectLst/>
      </p:bgPr>
    </p:bg>
    <p:spTree>
      <p:nvGrpSpPr>
        <p:cNvPr id="1" name=""/>
        <p:cNvGrpSpPr/>
        <p:nvPr/>
      </p:nvGrpSpPr>
      <p:grpSpPr>
        <a:xfrm>
          <a:off x="0" y="0"/>
          <a:ext cx="0" cy="0"/>
          <a:chOff x="0" y="0"/>
          <a:chExt cx="0" cy="0"/>
        </a:xfrm>
      </p:grpSpPr>
      <p:pic>
        <p:nvPicPr>
          <p:cNvPr id="4" name="Image 6" descr="Une image contenant texte&#10;&#10;Description générée automatiquement">
            <a:extLst>
              <a:ext uri="{FF2B5EF4-FFF2-40B4-BE49-F238E27FC236}">
                <a16:creationId xmlns:a16="http://schemas.microsoft.com/office/drawing/2014/main" id="{BF374BB4-B1A0-E8ED-6B5D-2B70AF3024C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25" y="260350"/>
            <a:ext cx="3024188" cy="122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Picture Placeholder 9"/>
          <p:cNvSpPr>
            <a:spLocks noGrp="1"/>
          </p:cNvSpPr>
          <p:nvPr>
            <p:ph type="pic" sz="quarter" idx="10"/>
          </p:nvPr>
        </p:nvSpPr>
        <p:spPr>
          <a:xfrm>
            <a:off x="5303838" y="0"/>
            <a:ext cx="6888162" cy="6858000"/>
          </a:xfrm>
          <a:solidFill>
            <a:schemeClr val="bg2">
              <a:lumMod val="90000"/>
            </a:schemeClr>
          </a:solidFill>
        </p:spPr>
        <p:txBody>
          <a:bodyPr rtlCol="0">
            <a:normAutofit/>
          </a:bodyPr>
          <a:lstStyle>
            <a:lvl1pPr>
              <a:defRPr>
                <a:solidFill>
                  <a:schemeClr val="tx1">
                    <a:lumMod val="50000"/>
                    <a:lumOff val="50000"/>
                  </a:schemeClr>
                </a:solidFill>
              </a:defRPr>
            </a:lvl1pPr>
          </a:lstStyle>
          <a:p>
            <a:pPr lvl="0"/>
            <a:r>
              <a:rPr lang="en-US" noProof="0"/>
              <a:t>Click icon to add picture</a:t>
            </a:r>
            <a:endParaRPr lang="de-DE" noProof="0"/>
          </a:p>
        </p:txBody>
      </p:sp>
      <p:sp>
        <p:nvSpPr>
          <p:cNvPr id="3" name="Subtitle"/>
          <p:cNvSpPr>
            <a:spLocks noGrp="1"/>
          </p:cNvSpPr>
          <p:nvPr>
            <p:ph type="subTitle" idx="1"/>
          </p:nvPr>
        </p:nvSpPr>
        <p:spPr>
          <a:xfrm>
            <a:off x="404813" y="4561383"/>
            <a:ext cx="11386134" cy="307777"/>
          </a:xfrm>
        </p:spPr>
        <p:txBody>
          <a:bodyPr lIns="3600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p:cNvSpPr>
            <a:spLocks noGrp="1"/>
          </p:cNvSpPr>
          <p:nvPr>
            <p:ph type="ctrTitle"/>
          </p:nvPr>
        </p:nvSpPr>
        <p:spPr>
          <a:xfrm>
            <a:off x="404813" y="2293129"/>
            <a:ext cx="11386134" cy="2215991"/>
          </a:xfrm>
        </p:spPr>
        <p:txBody>
          <a:bodyPr wrap="square" lIns="36000" rIns="36000"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sp>
        <p:nvSpPr>
          <p:cNvPr id="5" name="Rectangle 27">
            <a:extLst>
              <a:ext uri="{FF2B5EF4-FFF2-40B4-BE49-F238E27FC236}">
                <a16:creationId xmlns:a16="http://schemas.microsoft.com/office/drawing/2014/main" id="{59C756E4-A282-8D1D-6D71-8C90BDA6D878}"/>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A6A6A6"/>
                </a:solidFill>
                <a:latin typeface="Ubuntu" panose="020B0504030602030204" pitchFamily="34" charset="0"/>
                <a:cs typeface="Arial" panose="020B0604020202020204" pitchFamily="34" charset="0"/>
              </a:rPr>
              <a:t>Capgemini @ Morgan Stanley | 2025</a:t>
            </a:r>
          </a:p>
        </p:txBody>
      </p:sp>
      <p:sp>
        <p:nvSpPr>
          <p:cNvPr id="6" name="Rectangle 27">
            <a:extLst>
              <a:ext uri="{FF2B5EF4-FFF2-40B4-BE49-F238E27FC236}">
                <a16:creationId xmlns:a16="http://schemas.microsoft.com/office/drawing/2014/main" id="{1C6527F9-1AAF-8675-7B9C-CB04CAD923A5}"/>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 Capgemini 2025. All rights reserved |</a:t>
            </a:r>
          </a:p>
        </p:txBody>
      </p:sp>
    </p:spTree>
    <p:extLst>
      <p:ext uri="{BB962C8B-B14F-4D97-AF65-F5344CB8AC3E}">
        <p14:creationId xmlns:p14="http://schemas.microsoft.com/office/powerpoint/2010/main" val="51044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hasCustomPrompt="1"/>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a:t>
            </a:r>
            <a:r>
              <a:rPr lang="en-US" err="1"/>
              <a:t>editt</a:t>
            </a:r>
            <a:r>
              <a:rPr lang="en-US"/>
              <a:t> Master title </a:t>
            </a:r>
            <a:r>
              <a:rPr lang="en-US" err="1"/>
              <a:t>syle</a:t>
            </a:r>
            <a:endParaRPr lang="en-GB"/>
          </a:p>
        </p:txBody>
      </p:sp>
      <p:pic>
        <p:nvPicPr>
          <p:cNvPr id="4" name="Image 6" descr="Une image contenant texte&#10;&#10;Description générée automatiquement">
            <a:extLst>
              <a:ext uri="{FF2B5EF4-FFF2-40B4-BE49-F238E27FC236}">
                <a16:creationId xmlns:a16="http://schemas.microsoft.com/office/drawing/2014/main" id="{84F204F1-8F33-6B72-824E-0BB97FF6DE1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
        <p:nvSpPr>
          <p:cNvPr id="6" name="Rectangle 27">
            <a:extLst>
              <a:ext uri="{FF2B5EF4-FFF2-40B4-BE49-F238E27FC236}">
                <a16:creationId xmlns:a16="http://schemas.microsoft.com/office/drawing/2014/main" id="{EEFEE78F-1DDB-DA85-EF13-74DB326A982C}"/>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 Capgemini 2025. All rights reserved |</a:t>
            </a:r>
          </a:p>
        </p:txBody>
      </p:sp>
    </p:spTree>
    <p:extLst>
      <p:ext uri="{BB962C8B-B14F-4D97-AF65-F5344CB8AC3E}">
        <p14:creationId xmlns:p14="http://schemas.microsoft.com/office/powerpoint/2010/main" val="344464565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5026654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oleObject" Target="../embeddings/oleObject1.bin"/><Relationship Id="rId5" Type="http://schemas.openxmlformats.org/officeDocument/2006/relationships/tags" Target="../tags/tag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5"/>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21" name="Object 20"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149643"/>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Consulting Services: Financial Services | 2025</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 Capgemini 2025. All rights reserved |</a:t>
            </a:r>
          </a:p>
        </p:txBody>
      </p:sp>
    </p:spTree>
    <p:extLst>
      <p:ext uri="{BB962C8B-B14F-4D97-AF65-F5344CB8AC3E}">
        <p14:creationId xmlns:p14="http://schemas.microsoft.com/office/powerpoint/2010/main" val="41198331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6F85F-D50E-DAE6-7A17-77220CAF72D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3CD2668-3B62-F210-C764-DA92C3697F2A}"/>
              </a:ext>
            </a:extLst>
          </p:cNvPr>
          <p:cNvSpPr/>
          <p:nvPr/>
        </p:nvSpPr>
        <p:spPr>
          <a:xfrm>
            <a:off x="-21619" y="-19543"/>
            <a:ext cx="3377368" cy="6877543"/>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srgbClr val="FFFFFF"/>
              </a:solidFill>
              <a:effectLst/>
              <a:uLnTx/>
              <a:uFillTx/>
              <a:latin typeface="Ubuntu"/>
              <a:ea typeface="+mn-ea"/>
              <a:cs typeface="+mn-cs"/>
            </a:endParaRPr>
          </a:p>
        </p:txBody>
      </p:sp>
      <p:sp>
        <p:nvSpPr>
          <p:cNvPr id="5" name="Rectangle 4">
            <a:extLst>
              <a:ext uri="{FF2B5EF4-FFF2-40B4-BE49-F238E27FC236}">
                <a16:creationId xmlns:a16="http://schemas.microsoft.com/office/drawing/2014/main" id="{DE40E40A-247A-9E3A-B995-430C75F7878A}"/>
              </a:ext>
            </a:extLst>
          </p:cNvPr>
          <p:cNvSpPr/>
          <p:nvPr/>
        </p:nvSpPr>
        <p:spPr>
          <a:xfrm>
            <a:off x="87835" y="2087335"/>
            <a:ext cx="3138882" cy="369332"/>
          </a:xfrm>
          <a:prstGeom prst="rect">
            <a:avLst/>
          </a:prstGeom>
        </p:spPr>
        <p:txBody>
          <a:bodyPr wrap="square" lIns="91440" tIns="45720" rIns="91440" bIns="45720" anchor="t">
            <a:spAutoFit/>
          </a:bodyPr>
          <a:lstStyle/>
          <a:p>
            <a:pPr marL="0" marR="0" lvl="0" indent="0" algn="ctr" defTabSz="844083" rtl="0" eaLnBrk="1" fontAlgn="auto" latinLnBrk="0" hangingPunct="1">
              <a:lnSpc>
                <a:spcPct val="100000"/>
              </a:lnSpc>
              <a:spcBef>
                <a:spcPct val="0"/>
              </a:spcBef>
              <a:spcAft>
                <a:spcPct val="0"/>
              </a:spcAft>
              <a:buClrTx/>
              <a:buSzTx/>
              <a:buFontTx/>
              <a:buNone/>
              <a:tabLst/>
              <a:defRPr/>
            </a:pPr>
            <a:r>
              <a:rPr kumimoji="0" lang="en-GB" sz="1800" b="1" i="0" u="none" strike="noStrike" kern="1200" cap="none" spc="0" normalizeH="0" baseline="0" noProof="0" dirty="0">
                <a:ln>
                  <a:noFill/>
                </a:ln>
                <a:solidFill>
                  <a:srgbClr val="FFFFFF"/>
                </a:solidFill>
                <a:effectLst/>
                <a:uLnTx/>
                <a:uFillTx/>
                <a:latin typeface="Ubuntu" panose="020B0504030602030204" pitchFamily="34" charset="0"/>
                <a:ea typeface="+mn-ea"/>
                <a:cs typeface="Arial"/>
              </a:rPr>
              <a:t>SRUSHTI BANSODE</a:t>
            </a:r>
            <a:endParaRPr kumimoji="0" lang="en-GB" sz="1800" b="1" i="0" u="none" strike="noStrike" kern="1200" cap="none" spc="0" normalizeH="0" baseline="0" noProof="0" dirty="0">
              <a:ln>
                <a:noFill/>
              </a:ln>
              <a:solidFill>
                <a:srgbClr val="FFFFFF"/>
              </a:solidFill>
              <a:effectLst/>
              <a:uLnTx/>
              <a:uFillTx/>
              <a:latin typeface="Aptos" panose="02110004020202020204"/>
              <a:ea typeface="+mn-ea"/>
              <a:cs typeface="Arial"/>
            </a:endParaRPr>
          </a:p>
        </p:txBody>
      </p:sp>
      <p:sp>
        <p:nvSpPr>
          <p:cNvPr id="6" name="Rectangle 5">
            <a:extLst>
              <a:ext uri="{FF2B5EF4-FFF2-40B4-BE49-F238E27FC236}">
                <a16:creationId xmlns:a16="http://schemas.microsoft.com/office/drawing/2014/main" id="{AADE60CB-D73E-8A19-60CE-BED756EDAC50}"/>
              </a:ext>
            </a:extLst>
          </p:cNvPr>
          <p:cNvSpPr/>
          <p:nvPr/>
        </p:nvSpPr>
        <p:spPr>
          <a:xfrm>
            <a:off x="97632" y="2402748"/>
            <a:ext cx="2989192" cy="307777"/>
          </a:xfrm>
          <a:prstGeom prst="rect">
            <a:avLst/>
          </a:prstGeom>
        </p:spPr>
        <p:txBody>
          <a:bodyPr wrap="square" lIns="91440" tIns="45720" rIns="91440" bIns="45720" anchor="t">
            <a:spAutoFit/>
          </a:bodyPr>
          <a:lstStyle/>
          <a:p>
            <a:pPr marL="12700" marR="5080" lvl="0" indent="116205" algn="ctr" defTabSz="914400" rtl="0" eaLnBrk="1" fontAlgn="auto" latinLnBrk="0" hangingPunct="1">
              <a:lnSpc>
                <a:spcPct val="100000"/>
              </a:lnSpc>
              <a:spcBef>
                <a:spcPts val="85"/>
              </a:spcBef>
              <a:spcAft>
                <a:spcPts val="0"/>
              </a:spcAft>
              <a:buClrTx/>
              <a:buSzTx/>
              <a:buFontTx/>
              <a:buNone/>
              <a:tabLst/>
              <a:defRPr/>
            </a:pPr>
            <a:r>
              <a:rPr kumimoji="0" lang="en-US" sz="1400" b="1" i="0" u="none" strike="noStrike" kern="1200" cap="none" spc="-5" normalizeH="0" baseline="0" noProof="0" dirty="0">
                <a:ln>
                  <a:noFill/>
                </a:ln>
                <a:solidFill>
                  <a:srgbClr val="FFFFFF"/>
                </a:solidFill>
                <a:effectLst/>
                <a:uLnTx/>
                <a:uFillTx/>
                <a:latin typeface="Ubuntu"/>
                <a:ea typeface="+mn-ea"/>
                <a:cs typeface="Verdana"/>
              </a:rPr>
              <a:t>Data Analyst</a:t>
            </a:r>
          </a:p>
        </p:txBody>
      </p:sp>
      <p:grpSp>
        <p:nvGrpSpPr>
          <p:cNvPr id="7" name="Group 6">
            <a:extLst>
              <a:ext uri="{FF2B5EF4-FFF2-40B4-BE49-F238E27FC236}">
                <a16:creationId xmlns:a16="http://schemas.microsoft.com/office/drawing/2014/main" id="{412A66EA-8205-44C6-DBFE-9E3E5F31D5F2}"/>
              </a:ext>
            </a:extLst>
          </p:cNvPr>
          <p:cNvGrpSpPr/>
          <p:nvPr/>
        </p:nvGrpSpPr>
        <p:grpSpPr>
          <a:xfrm>
            <a:off x="318441" y="2993116"/>
            <a:ext cx="2858314" cy="1943683"/>
            <a:chOff x="309522" y="3060164"/>
            <a:chExt cx="2858314" cy="1136292"/>
          </a:xfrm>
        </p:grpSpPr>
        <p:sp>
          <p:nvSpPr>
            <p:cNvPr id="8" name="Rectangle 7">
              <a:extLst>
                <a:ext uri="{FF2B5EF4-FFF2-40B4-BE49-F238E27FC236}">
                  <a16:creationId xmlns:a16="http://schemas.microsoft.com/office/drawing/2014/main" id="{BE864D16-8B05-2989-039F-DD009309C0D4}"/>
                </a:ext>
              </a:extLst>
            </p:cNvPr>
            <p:cNvSpPr/>
            <p:nvPr/>
          </p:nvSpPr>
          <p:spPr>
            <a:xfrm>
              <a:off x="339502" y="3060164"/>
              <a:ext cx="2487614" cy="307777"/>
            </a:xfrm>
            <a:prstGeom prst="rect">
              <a:avLst/>
            </a:prstGeom>
          </p:spPr>
          <p:txBody>
            <a:bodyPr wrap="square" lIns="91440" tIns="45720" rIns="91440" bIns="45720" anchor="t">
              <a:spAutoFit/>
            </a:bodyPr>
            <a:lstStyle/>
            <a:p>
              <a:pPr marL="0" marR="0" lvl="0" indent="0" algn="l" defTabSz="844083" rtl="0" eaLnBrk="1" fontAlgn="base" latinLnBrk="0" hangingPunct="1">
                <a:lnSpc>
                  <a:spcPct val="100000"/>
                </a:lnSpc>
                <a:spcBef>
                  <a:spcPct val="0"/>
                </a:spcBef>
                <a:spcAft>
                  <a:spcPct val="0"/>
                </a:spcAft>
                <a:buClrTx/>
                <a:buSzTx/>
                <a:buFontTx/>
                <a:buNone/>
                <a:tabLst/>
                <a:defRPr/>
              </a:pPr>
              <a:r>
                <a:rPr kumimoji="0" lang="en-GB" sz="1400" b="1" i="0" u="none" strike="noStrike" kern="1200" cap="none" spc="0" normalizeH="0" baseline="0" noProof="0" dirty="0">
                  <a:ln>
                    <a:noFill/>
                  </a:ln>
                  <a:solidFill>
                    <a:prstClr val="white"/>
                  </a:solidFill>
                  <a:effectLst/>
                  <a:uLnTx/>
                  <a:uFillTx/>
                  <a:latin typeface="Ubuntu"/>
                  <a:ea typeface="+mn-ea"/>
                  <a:cs typeface="Arial"/>
                </a:rPr>
                <a:t>Core Competencies</a:t>
              </a:r>
              <a:endParaRPr kumimoji="0" lang="en-GB" sz="1400" b="1" i="0" u="none" strike="noStrike" kern="1200" cap="none" spc="0" normalizeH="0" baseline="0" noProof="0" dirty="0">
                <a:ln>
                  <a:noFill/>
                </a:ln>
                <a:solidFill>
                  <a:prstClr val="white"/>
                </a:solidFill>
                <a:effectLst/>
                <a:uLnTx/>
                <a:uFillTx/>
                <a:latin typeface="Ubuntu" panose="020B0504030602030204" pitchFamily="34" charset="0"/>
                <a:ea typeface="+mn-ea"/>
                <a:cs typeface="Arial" charset="0"/>
              </a:endParaRPr>
            </a:p>
          </p:txBody>
        </p:sp>
        <p:sp>
          <p:nvSpPr>
            <p:cNvPr id="9" name="Rectangle 8">
              <a:extLst>
                <a:ext uri="{FF2B5EF4-FFF2-40B4-BE49-F238E27FC236}">
                  <a16:creationId xmlns:a16="http://schemas.microsoft.com/office/drawing/2014/main" id="{D6D09FF0-EDBA-BE6D-BFCE-1B02BF231D3E}"/>
                </a:ext>
              </a:extLst>
            </p:cNvPr>
            <p:cNvSpPr/>
            <p:nvPr/>
          </p:nvSpPr>
          <p:spPr>
            <a:xfrm>
              <a:off x="309522" y="3482740"/>
              <a:ext cx="2858314" cy="713716"/>
            </a:xfrm>
            <a:prstGeom prst="rect">
              <a:avLst/>
            </a:prstGeom>
          </p:spPr>
          <p:txBody>
            <a:bodyPr wrap="square" lIns="91440" tIns="45720" rIns="91440" bIns="45720" anchor="t">
              <a:spAutoFit/>
            </a:bodyPr>
            <a:lstStyle/>
            <a:p>
              <a:pPr marL="111125" marR="0" lvl="0" indent="-111125" algn="l" defTabSz="914400" rtl="0" eaLnBrk="1" fontAlgn="base" latinLnBrk="0" hangingPunct="1">
                <a:lnSpc>
                  <a:spcPct val="100000"/>
                </a:lnSpc>
                <a:spcBef>
                  <a:spcPct val="0"/>
                </a:spcBef>
                <a:spcAft>
                  <a:spcPts val="100"/>
                </a:spcAft>
                <a:buClr>
                  <a:prstClr val="white"/>
                </a:buClr>
                <a:buSzTx/>
                <a:buFont typeface="Wingdings" panose="05000000000000000000" pitchFamily="2" charset="2"/>
                <a:buChar char="§"/>
                <a:tabLst/>
                <a:defRPr/>
              </a:pPr>
              <a:r>
                <a:rPr kumimoji="0" lang="en-GB" sz="1000" b="1" i="0" u="none" strike="noStrike" kern="1200" cap="none" spc="0" normalizeH="0" baseline="0" noProof="0" dirty="0">
                  <a:ln>
                    <a:noFill/>
                  </a:ln>
                  <a:solidFill>
                    <a:prstClr val="white"/>
                  </a:solidFill>
                  <a:effectLst/>
                  <a:uLnTx/>
                  <a:uFillTx/>
                  <a:latin typeface="Aptos" panose="02110004020202020204"/>
                  <a:ea typeface="+mn-ea"/>
                  <a:cs typeface="Arial" charset="0"/>
                </a:rPr>
                <a:t>Python </a:t>
              </a:r>
            </a:p>
            <a:p>
              <a:pPr marL="111125" marR="0" lvl="0" indent="-111125" algn="l" defTabSz="914400" rtl="0" eaLnBrk="1" fontAlgn="base" latinLnBrk="0" hangingPunct="1">
                <a:lnSpc>
                  <a:spcPct val="100000"/>
                </a:lnSpc>
                <a:spcBef>
                  <a:spcPct val="0"/>
                </a:spcBef>
                <a:spcAft>
                  <a:spcPts val="100"/>
                </a:spcAft>
                <a:buClr>
                  <a:prstClr val="white"/>
                </a:buClr>
                <a:buSzTx/>
                <a:buFont typeface="Wingdings" panose="05000000000000000000" pitchFamily="2" charset="2"/>
                <a:buChar char="§"/>
                <a:tabLst/>
                <a:defRPr/>
              </a:pPr>
              <a:r>
                <a:rPr lang="en-GB" sz="1000" b="1" dirty="0">
                  <a:solidFill>
                    <a:prstClr val="white"/>
                  </a:solidFill>
                  <a:latin typeface="Aptos" panose="02110004020202020204"/>
                  <a:cs typeface="Arial" charset="0"/>
                </a:rPr>
                <a:t>BigData:ETL,Hadoop,Scala</a:t>
              </a:r>
              <a:endParaRPr kumimoji="0" lang="en-GB" sz="1000" b="1" i="0" u="none" strike="noStrike" kern="1200" cap="none" spc="0" normalizeH="0" baseline="0" noProof="0" dirty="0">
                <a:ln>
                  <a:noFill/>
                </a:ln>
                <a:solidFill>
                  <a:prstClr val="white"/>
                </a:solidFill>
                <a:effectLst/>
                <a:uLnTx/>
                <a:uFillTx/>
                <a:latin typeface="Aptos" panose="02110004020202020204"/>
                <a:ea typeface="+mn-ea"/>
                <a:cs typeface="Arial" charset="0"/>
              </a:endParaRPr>
            </a:p>
            <a:p>
              <a:pPr marL="111125" marR="0" lvl="0" indent="-111125" algn="l" defTabSz="914400" rtl="0" eaLnBrk="1" fontAlgn="base" latinLnBrk="0" hangingPunct="1">
                <a:lnSpc>
                  <a:spcPct val="100000"/>
                </a:lnSpc>
                <a:spcBef>
                  <a:spcPct val="0"/>
                </a:spcBef>
                <a:spcAft>
                  <a:spcPts val="100"/>
                </a:spcAft>
                <a:buClr>
                  <a:prstClr val="white"/>
                </a:buClr>
                <a:buSzTx/>
                <a:buFont typeface="Wingdings" panose="05000000000000000000" pitchFamily="2" charset="2"/>
                <a:buChar char="§"/>
                <a:tabLst/>
                <a:defRPr/>
              </a:pPr>
              <a:r>
                <a:rPr lang="en-US" sz="1000" b="1" dirty="0">
                  <a:solidFill>
                    <a:prstClr val="white"/>
                  </a:solidFill>
                  <a:latin typeface="Aptos" panose="02110004020202020204"/>
                  <a:ea typeface="Roboto" panose="02000000000000000000" pitchFamily="2" charset="0"/>
                  <a:cs typeface="Arial" charset="0"/>
                </a:rPr>
                <a:t>Business Intelligence </a:t>
              </a:r>
              <a:r>
                <a:rPr lang="en-US" sz="1000" dirty="0">
                  <a:solidFill>
                    <a:prstClr val="white"/>
                  </a:solidFill>
                  <a:latin typeface="Aptos" panose="02110004020202020204"/>
                  <a:ea typeface="Roboto" panose="02000000000000000000" pitchFamily="2" charset="0"/>
                  <a:cs typeface="Arial" charset="0"/>
                </a:rPr>
                <a:t>– </a:t>
              </a:r>
              <a:r>
                <a:rPr lang="en-GB" sz="1000" dirty="0">
                  <a:solidFill>
                    <a:prstClr val="white"/>
                  </a:solidFill>
                  <a:latin typeface="Aptos" panose="02110004020202020204"/>
                  <a:ea typeface="Roboto" panose="02000000000000000000" pitchFamily="2" charset="0"/>
                  <a:cs typeface="Arial" charset="0"/>
                </a:rPr>
                <a:t>Power BI</a:t>
              </a:r>
              <a:endParaRPr kumimoji="0" lang="en-US" sz="1000" b="0" i="0" u="none" strike="noStrike" kern="1200" cap="none" spc="0" normalizeH="0" baseline="0" noProof="0" dirty="0">
                <a:ln>
                  <a:noFill/>
                </a:ln>
                <a:solidFill>
                  <a:prstClr val="white"/>
                </a:solidFill>
                <a:effectLst/>
                <a:uLnTx/>
                <a:uFillTx/>
                <a:latin typeface="Aptos" panose="02110004020202020204"/>
                <a:ea typeface="+mn-ea"/>
                <a:cs typeface="Arial" charset="0"/>
              </a:endParaRPr>
            </a:p>
            <a:p>
              <a:pPr marL="111125" marR="0" lvl="0" indent="-111125" algn="l" defTabSz="914400" rtl="0" eaLnBrk="1" fontAlgn="base" latinLnBrk="0" hangingPunct="1">
                <a:lnSpc>
                  <a:spcPct val="100000"/>
                </a:lnSpc>
                <a:spcBef>
                  <a:spcPct val="0"/>
                </a:spcBef>
                <a:spcAft>
                  <a:spcPts val="100"/>
                </a:spcAft>
                <a:buClr>
                  <a:prstClr val="white"/>
                </a:buClr>
                <a:buSzTx/>
                <a:buFont typeface="Wingdings" panose="05000000000000000000" pitchFamily="2" charset="2"/>
                <a:buChar char="§"/>
                <a:tabLst/>
                <a:defRPr/>
              </a:pPr>
              <a:r>
                <a:rPr kumimoji="0" lang="en-US" sz="1000" b="1" i="0" u="none" strike="noStrike" kern="1200" cap="none" spc="0" normalizeH="0" baseline="0" noProof="0" dirty="0">
                  <a:ln>
                    <a:noFill/>
                  </a:ln>
                  <a:solidFill>
                    <a:prstClr val="white"/>
                  </a:solidFill>
                  <a:effectLst/>
                  <a:uLnTx/>
                  <a:uFillTx/>
                  <a:latin typeface="Aptos" panose="02110004020202020204"/>
                  <a:ea typeface="+mn-ea"/>
                  <a:cs typeface="Arial" charset="0"/>
                </a:rPr>
                <a:t>SQL &amp; Database – </a:t>
              </a:r>
              <a:r>
                <a:rPr lang="en-GB" sz="1000" dirty="0">
                  <a:solidFill>
                    <a:prstClr val="white"/>
                  </a:solidFill>
                  <a:latin typeface="Aptos" panose="02110004020202020204"/>
                  <a:cs typeface="Arial" charset="0"/>
                </a:rPr>
                <a:t>Q</a:t>
              </a:r>
              <a:r>
                <a:rPr kumimoji="0" lang="en-GB" sz="1000" b="0" i="0" u="none" strike="noStrike" kern="1200" cap="none" spc="0" normalizeH="0" baseline="0" noProof="0" dirty="0" err="1">
                  <a:ln>
                    <a:noFill/>
                  </a:ln>
                  <a:solidFill>
                    <a:prstClr val="white"/>
                  </a:solidFill>
                  <a:effectLst/>
                  <a:uLnTx/>
                  <a:uFillTx/>
                  <a:latin typeface="Aptos" panose="02110004020202020204"/>
                  <a:ea typeface="+mn-ea"/>
                  <a:cs typeface="Arial" charset="0"/>
                </a:rPr>
                <a:t>uery</a:t>
              </a:r>
              <a:r>
                <a:rPr kumimoji="0" lang="en-GB" sz="1000" b="0" i="0" u="none" strike="noStrike" kern="1200" cap="none" spc="0" normalizeH="0" baseline="0" noProof="0" dirty="0">
                  <a:ln>
                    <a:noFill/>
                  </a:ln>
                  <a:solidFill>
                    <a:prstClr val="white"/>
                  </a:solidFill>
                  <a:effectLst/>
                  <a:uLnTx/>
                  <a:uFillTx/>
                  <a:latin typeface="Aptos" panose="02110004020202020204"/>
                  <a:ea typeface="+mn-ea"/>
                  <a:cs typeface="Arial" charset="0"/>
                </a:rPr>
                <a:t> </a:t>
              </a:r>
              <a:r>
                <a:rPr lang="en-GB" sz="1000" dirty="0">
                  <a:solidFill>
                    <a:prstClr val="white"/>
                  </a:solidFill>
                  <a:latin typeface="Aptos" panose="02110004020202020204"/>
                  <a:cs typeface="Arial" charset="0"/>
                </a:rPr>
                <a:t>O</a:t>
              </a:r>
              <a:r>
                <a:rPr kumimoji="0" lang="en-GB" sz="1000" b="0" i="0" u="none" strike="noStrike" kern="1200" cap="none" spc="0" normalizeH="0" baseline="0" noProof="0" dirty="0" err="1">
                  <a:ln>
                    <a:noFill/>
                  </a:ln>
                  <a:solidFill>
                    <a:prstClr val="white"/>
                  </a:solidFill>
                  <a:effectLst/>
                  <a:uLnTx/>
                  <a:uFillTx/>
                  <a:latin typeface="Aptos" panose="02110004020202020204"/>
                  <a:ea typeface="+mn-ea"/>
                  <a:cs typeface="Arial" charset="0"/>
                </a:rPr>
                <a:t>ptimization</a:t>
              </a:r>
              <a:r>
                <a:rPr kumimoji="0" lang="en-GB" sz="1000" b="0" i="0" u="none" strike="noStrike" kern="1200" cap="none" spc="0" normalizeH="0" baseline="0" noProof="0" dirty="0">
                  <a:ln>
                    <a:noFill/>
                  </a:ln>
                  <a:solidFill>
                    <a:prstClr val="white"/>
                  </a:solidFill>
                  <a:effectLst/>
                  <a:uLnTx/>
                  <a:uFillTx/>
                  <a:latin typeface="Aptos" panose="02110004020202020204"/>
                  <a:ea typeface="+mn-ea"/>
                  <a:cs typeface="Arial" charset="0"/>
                </a:rPr>
                <a:t>, Schema Design</a:t>
              </a:r>
              <a:endParaRPr kumimoji="0" lang="en-US" sz="1000" b="0" i="0" u="none" strike="noStrike" kern="1200" cap="none" spc="0" normalizeH="0" baseline="0" noProof="0" dirty="0">
                <a:ln>
                  <a:noFill/>
                </a:ln>
                <a:solidFill>
                  <a:prstClr val="white"/>
                </a:solidFill>
                <a:effectLst/>
                <a:uLnTx/>
                <a:uFillTx/>
                <a:latin typeface="Aptos" panose="02110004020202020204"/>
                <a:ea typeface="+mn-ea"/>
                <a:cs typeface="Arial" charset="0"/>
              </a:endParaRPr>
            </a:p>
            <a:p>
              <a:pPr marL="111125" marR="0" lvl="0" indent="-111125" algn="l" defTabSz="914400" rtl="0" eaLnBrk="1" fontAlgn="base" latinLnBrk="0" hangingPunct="1">
                <a:lnSpc>
                  <a:spcPct val="100000"/>
                </a:lnSpc>
                <a:spcBef>
                  <a:spcPct val="0"/>
                </a:spcBef>
                <a:spcAft>
                  <a:spcPts val="100"/>
                </a:spcAft>
                <a:buClr>
                  <a:prstClr val="white"/>
                </a:buClr>
                <a:buSzTx/>
                <a:buFont typeface="Wingdings" panose="05000000000000000000" pitchFamily="2" charset="2"/>
                <a:buChar char="§"/>
                <a:tabLst/>
                <a:defRPr/>
              </a:pPr>
              <a:r>
                <a:rPr kumimoji="0" lang="en-GB" sz="1000" b="0" i="0" u="none" strike="noStrike" kern="1200" cap="none" spc="0" normalizeH="0" baseline="0" noProof="0" dirty="0">
                  <a:ln>
                    <a:noFill/>
                  </a:ln>
                  <a:solidFill>
                    <a:prstClr val="white"/>
                  </a:solidFill>
                  <a:effectLst/>
                  <a:uLnTx/>
                  <a:uFillTx/>
                  <a:latin typeface="Aptos" panose="02110004020202020204"/>
                  <a:ea typeface="Roboto" panose="02000000000000000000" pitchFamily="2" charset="0"/>
                  <a:cs typeface="Arial" charset="0"/>
                </a:rPr>
                <a:t> </a:t>
              </a:r>
              <a:r>
                <a:rPr kumimoji="0" lang="en-US" sz="1000" b="1" i="0" u="none" strike="noStrike" kern="1200" cap="none" spc="0" normalizeH="0" baseline="0" noProof="0" dirty="0">
                  <a:ln>
                    <a:noFill/>
                  </a:ln>
                  <a:solidFill>
                    <a:prstClr val="white"/>
                  </a:solidFill>
                  <a:effectLst/>
                  <a:uLnTx/>
                  <a:uFillTx/>
                  <a:latin typeface="Aptos" panose="02110004020202020204"/>
                  <a:ea typeface="Roboto" panose="02000000000000000000" pitchFamily="2" charset="0"/>
                  <a:cs typeface="Arial" charset="0"/>
                </a:rPr>
                <a:t>CI/CD &amp; DevOps Automation – </a:t>
              </a:r>
              <a:r>
                <a:rPr kumimoji="0" lang="en-US" sz="1000" b="0" i="0" u="none" strike="noStrike" kern="1200" cap="none" spc="0" normalizeH="0" baseline="0" noProof="0" dirty="0">
                  <a:ln>
                    <a:noFill/>
                  </a:ln>
                  <a:solidFill>
                    <a:prstClr val="white"/>
                  </a:solidFill>
                  <a:effectLst/>
                  <a:uLnTx/>
                  <a:uFillTx/>
                  <a:latin typeface="Aptos" panose="02110004020202020204"/>
                  <a:ea typeface="Roboto" panose="02000000000000000000" pitchFamily="2" charset="0"/>
                  <a:cs typeface="Arial" charset="0"/>
                </a:rPr>
                <a:t>Git, GitHub,Jenkins</a:t>
              </a:r>
            </a:p>
          </p:txBody>
        </p:sp>
        <p:cxnSp>
          <p:nvCxnSpPr>
            <p:cNvPr id="10" name="Straight Connector 9">
              <a:extLst>
                <a:ext uri="{FF2B5EF4-FFF2-40B4-BE49-F238E27FC236}">
                  <a16:creationId xmlns:a16="http://schemas.microsoft.com/office/drawing/2014/main" id="{7D1C4FBA-E6E5-1B9E-D27F-FE42E4EA2E81}"/>
                </a:ext>
              </a:extLst>
            </p:cNvPr>
            <p:cNvCxnSpPr>
              <a:cxnSpLocks/>
            </p:cNvCxnSpPr>
            <p:nvPr/>
          </p:nvCxnSpPr>
          <p:spPr>
            <a:xfrm>
              <a:off x="452397" y="3420840"/>
              <a:ext cx="2488071" cy="0"/>
            </a:xfrm>
            <a:prstGeom prst="line">
              <a:avLst/>
            </a:prstGeom>
            <a:ln>
              <a:solidFill>
                <a:schemeClr val="bg1"/>
              </a:solidFill>
              <a:headEnd type="oval" w="med" len="med"/>
              <a:tailEnd type="oval" w="med" len="med"/>
            </a:ln>
          </p:spPr>
          <p:style>
            <a:lnRef idx="1">
              <a:schemeClr val="accent2"/>
            </a:lnRef>
            <a:fillRef idx="0">
              <a:schemeClr val="accent2"/>
            </a:fillRef>
            <a:effectRef idx="0">
              <a:schemeClr val="accent2"/>
            </a:effectRef>
            <a:fontRef idx="minor">
              <a:schemeClr val="tx1"/>
            </a:fontRef>
          </p:style>
        </p:cxnSp>
      </p:grpSp>
      <p:sp>
        <p:nvSpPr>
          <p:cNvPr id="11" name="Rectangle 10">
            <a:extLst>
              <a:ext uri="{FF2B5EF4-FFF2-40B4-BE49-F238E27FC236}">
                <a16:creationId xmlns:a16="http://schemas.microsoft.com/office/drawing/2014/main" id="{2D4AB45F-9201-903B-8373-BE7AA5B0A8BB}"/>
              </a:ext>
            </a:extLst>
          </p:cNvPr>
          <p:cNvSpPr/>
          <p:nvPr/>
        </p:nvSpPr>
        <p:spPr>
          <a:xfrm>
            <a:off x="6495147" y="262659"/>
            <a:ext cx="4857454" cy="307777"/>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400" b="1" i="0" u="none" strike="noStrike" kern="1200" cap="none" spc="0" normalizeH="0" baseline="0" noProof="0" dirty="0">
                <a:ln>
                  <a:noFill/>
                </a:ln>
                <a:solidFill>
                  <a:srgbClr val="002060"/>
                </a:solidFill>
                <a:effectLst/>
                <a:uLnTx/>
                <a:uFillTx/>
                <a:latin typeface="Ubuntu" panose="020B0504030602030204" pitchFamily="34" charset="0"/>
                <a:ea typeface="+mn-ea"/>
                <a:cs typeface="Calibri" pitchFamily="34" charset="0"/>
              </a:rPr>
              <a:t>Professional Experience Highlights</a:t>
            </a:r>
          </a:p>
        </p:txBody>
      </p:sp>
      <p:cxnSp>
        <p:nvCxnSpPr>
          <p:cNvPr id="12" name="Straight Connector 11">
            <a:extLst>
              <a:ext uri="{FF2B5EF4-FFF2-40B4-BE49-F238E27FC236}">
                <a16:creationId xmlns:a16="http://schemas.microsoft.com/office/drawing/2014/main" id="{6DCEFD0A-F4B3-097E-E499-1B68B4EC3AAD}"/>
              </a:ext>
            </a:extLst>
          </p:cNvPr>
          <p:cNvCxnSpPr>
            <a:cxnSpLocks/>
          </p:cNvCxnSpPr>
          <p:nvPr/>
        </p:nvCxnSpPr>
        <p:spPr>
          <a:xfrm>
            <a:off x="6586587" y="634169"/>
            <a:ext cx="5351554" cy="0"/>
          </a:xfrm>
          <a:prstGeom prst="line">
            <a:avLst/>
          </a:prstGeom>
          <a:ln>
            <a:solidFill>
              <a:schemeClr val="tx1"/>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56FCFC3-BD7B-90F4-0535-DB4BF1CC93CB}"/>
              </a:ext>
            </a:extLst>
          </p:cNvPr>
          <p:cNvSpPr/>
          <p:nvPr/>
        </p:nvSpPr>
        <p:spPr>
          <a:xfrm>
            <a:off x="6371497" y="646185"/>
            <a:ext cx="5731363" cy="6197851"/>
          </a:xfrm>
          <a:prstGeom prst="rect">
            <a:avLst/>
          </a:prstGeom>
        </p:spPr>
        <p:txBody>
          <a:bodyPr wrap="square" lIns="91440" tIns="45720" rIns="91440" bIns="45720" anchor="t">
            <a:spAutoFit/>
          </a:bodyPr>
          <a:lstStyle/>
          <a:p>
            <a:pPr lvl="0">
              <a:lnSpc>
                <a:spcPct val="150000"/>
              </a:lnSpc>
              <a:tabLst>
                <a:tab pos="328930" algn="l"/>
                <a:tab pos="329565" algn="l"/>
              </a:tabLst>
              <a:defRPr/>
            </a:pPr>
            <a:r>
              <a:rPr lang="en-IN" sz="1050" b="1" dirty="0">
                <a:solidFill>
                  <a:prstClr val="black"/>
                </a:solidFill>
                <a:cs typeface="Calibri"/>
              </a:rPr>
              <a:t>Banking &amp; Financial Services (Nordea)</a:t>
            </a:r>
          </a:p>
          <a:p>
            <a:pPr marL="171450" lvl="0" indent="-171450">
              <a:buFont typeface="Arial" panose="020B0604020202020204" pitchFamily="34" charset="0"/>
              <a:buChar char="•"/>
              <a:tabLst>
                <a:tab pos="328930" algn="l"/>
                <a:tab pos="329565" algn="l"/>
              </a:tabLst>
              <a:defRPr/>
            </a:pPr>
            <a:r>
              <a:rPr lang="en-IN" sz="1050" dirty="0">
                <a:solidFill>
                  <a:prstClr val="black"/>
                </a:solidFill>
                <a:cs typeface="Calibri"/>
              </a:rPr>
              <a:t>Implemented ingest‑date–based controls for ND job execution, ensuring accurate and timely data processing.Automated the monthly NPV workflow, reducing manual effort and improving reporting efficiency.Refactored code by removing deprecated attributes and aligning logic with updated business requirements.</a:t>
            </a:r>
          </a:p>
          <a:p>
            <a:pPr marL="171450" lvl="0" indent="-171450">
              <a:buFont typeface="Arial" panose="020B0604020202020204" pitchFamily="34" charset="0"/>
              <a:buChar char="•"/>
              <a:tabLst>
                <a:tab pos="328930" algn="l"/>
                <a:tab pos="329565" algn="l"/>
              </a:tabLst>
              <a:defRPr/>
            </a:pPr>
            <a:r>
              <a:rPr lang="en-IN" sz="1050" dirty="0">
                <a:solidFill>
                  <a:prstClr val="black"/>
                </a:solidFill>
                <a:cs typeface="Calibri"/>
              </a:rPr>
              <a:t>Performed data‑lineage validation to ensure traceability and integrity across transformation pipelines.</a:t>
            </a:r>
          </a:p>
          <a:p>
            <a:pPr marL="171450" lvl="0" indent="-171450">
              <a:buFont typeface="Arial" panose="020B0604020202020204" pitchFamily="34" charset="0"/>
              <a:buChar char="•"/>
              <a:tabLst>
                <a:tab pos="328930" algn="l"/>
                <a:tab pos="329565" algn="l"/>
              </a:tabLst>
              <a:defRPr/>
            </a:pPr>
            <a:r>
              <a:rPr lang="en-IN" sz="1050" dirty="0">
                <a:solidFill>
                  <a:prstClr val="black"/>
                </a:solidFill>
                <a:cs typeface="Calibri"/>
              </a:rPr>
              <a:t>Verified SMX document mappings, improving data quality and alignment with expected standards. Supported TRF2 MDP team deliverables through backend enhancements, issue resolution, and Scala‑based workflow improvements.</a:t>
            </a:r>
            <a:endParaRPr lang="en-US" sz="1050" dirty="0">
              <a:solidFill>
                <a:prstClr val="black"/>
              </a:solidFill>
              <a:latin typeface="Ubuntu"/>
              <a:cs typeface="Calibri"/>
            </a:endParaRPr>
          </a:p>
          <a:p>
            <a:pPr lvl="0">
              <a:tabLst>
                <a:tab pos="328930" algn="l"/>
                <a:tab pos="329565" algn="l"/>
              </a:tabLst>
              <a:defRPr/>
            </a:pPr>
            <a:r>
              <a:rPr lang="en-IN" sz="1050" b="1" dirty="0">
                <a:solidFill>
                  <a:prstClr val="black"/>
                </a:solidFill>
                <a:cs typeface="Calibri"/>
              </a:rPr>
              <a:t>Internal Platforms &amp; Engineering Initiatives (</a:t>
            </a:r>
            <a:r>
              <a:rPr lang="en-IN" sz="1050" b="1" dirty="0" err="1">
                <a:solidFill>
                  <a:prstClr val="black"/>
                </a:solidFill>
                <a:cs typeface="Calibri"/>
              </a:rPr>
              <a:t>GenGarage</a:t>
            </a:r>
            <a:r>
              <a:rPr lang="en-IN" sz="1050" b="1" dirty="0">
                <a:solidFill>
                  <a:prstClr val="black"/>
                </a:solidFill>
                <a:cs typeface="Calibri"/>
              </a:rPr>
              <a:t> – Capgemini)</a:t>
            </a:r>
          </a:p>
          <a:p>
            <a:pPr marL="171450" lvl="0" indent="-171450">
              <a:buFont typeface="Arial" panose="020B0604020202020204" pitchFamily="34" charset="0"/>
              <a:buChar char="•"/>
              <a:tabLst>
                <a:tab pos="328930" algn="l"/>
                <a:tab pos="329565" algn="l"/>
              </a:tabLst>
              <a:defRPr/>
            </a:pPr>
            <a:r>
              <a:rPr lang="en-IN" sz="1050" dirty="0">
                <a:solidFill>
                  <a:prstClr val="black"/>
                </a:solidFill>
                <a:cs typeface="Calibri"/>
              </a:rPr>
              <a:t>Developed backend components for real‑time report fetching, enhancing data accessibility and improving responsiveness for internal stakeholders. Collaborated with cross‑functional teams to refine requirements and deliver stable feature enhancements under rapid development cycles. Optimized workflow logic and transformed data retrieval processes, improving system usability and ensuring quicker access to operational insights</a:t>
            </a:r>
            <a:r>
              <a:rPr kumimoji="0" lang="en-GB" sz="1000" b="0" i="0" u="none" strike="noStrike" kern="1200" cap="none" spc="0" normalizeH="0" baseline="0" noProof="0" dirty="0">
                <a:ln>
                  <a:noFill/>
                </a:ln>
                <a:solidFill>
                  <a:prstClr val="black"/>
                </a:solidFill>
                <a:effectLst/>
                <a:uLnTx/>
                <a:uFillTx/>
                <a:latin typeface="Ubuntu"/>
                <a:ea typeface="+mn-ea"/>
                <a:cs typeface="Calibri"/>
              </a:rPr>
              <a:t>.</a:t>
            </a:r>
            <a:r>
              <a:rPr kumimoji="0" lang="en-US" sz="1000" b="0" i="0" u="none" strike="noStrike" kern="1200" cap="none" spc="0" normalizeH="0" baseline="0" noProof="0" dirty="0">
                <a:ln>
                  <a:noFill/>
                </a:ln>
                <a:solidFill>
                  <a:prstClr val="black"/>
                </a:solidFill>
                <a:effectLst/>
                <a:uLnTx/>
                <a:uFillTx/>
                <a:latin typeface="Ubuntu"/>
                <a:ea typeface="+mn-ea"/>
                <a:cs typeface="Calibri"/>
              </a:rPr>
              <a:t> </a:t>
            </a:r>
          </a:p>
          <a:p>
            <a:pPr lvl="0">
              <a:tabLst>
                <a:tab pos="328930" algn="l"/>
                <a:tab pos="329565" algn="l"/>
              </a:tabLst>
              <a:defRPr/>
            </a:pPr>
            <a:r>
              <a:rPr lang="en-IN" sz="1050" b="1" dirty="0">
                <a:solidFill>
                  <a:prstClr val="black"/>
                </a:solidFill>
                <a:cs typeface="Calibri"/>
              </a:rPr>
              <a:t>Policy &amp; Data Processing (Sequel Policy Creation – Internal Project)</a:t>
            </a:r>
          </a:p>
          <a:p>
            <a:pPr marL="171450" lvl="0" indent="-171450">
              <a:buFont typeface="Arial" panose="020B0604020202020204" pitchFamily="34" charset="0"/>
              <a:buChar char="•"/>
              <a:tabLst>
                <a:tab pos="328930" algn="l"/>
                <a:tab pos="329565" algn="l"/>
              </a:tabLst>
              <a:defRPr/>
            </a:pPr>
            <a:r>
              <a:rPr lang="en-IN" sz="1050" dirty="0">
                <a:solidFill>
                  <a:prstClr val="black"/>
                </a:solidFill>
                <a:cs typeface="Calibri"/>
              </a:rPr>
              <a:t>Worked on end‑to‑end policy creation flows, including rules, validations, and logic enhancements aligned with evolving business needs.Designed and executed SQL queries supporting policy reporting, audits, and data checks, improving accuracy and reducing repetitive manual tasks.Analyzed existing processes and contributed improvements to reduce errors and strengthen data flow reliability.</a:t>
            </a:r>
          </a:p>
          <a:p>
            <a:pPr lvl="0">
              <a:tabLst>
                <a:tab pos="328930" algn="l"/>
                <a:tab pos="329565" algn="l"/>
              </a:tabLst>
              <a:defRPr/>
            </a:pPr>
            <a:r>
              <a:rPr lang="en-IN" sz="1000" b="1" dirty="0">
                <a:solidFill>
                  <a:prstClr val="black"/>
                </a:solidFill>
                <a:cs typeface="Calibri"/>
              </a:rPr>
              <a:t>Hackathon &amp; Innovation (Capgemini Hackathon Finalist)</a:t>
            </a:r>
            <a:endParaRPr lang="en-IN" sz="1000" dirty="0">
              <a:solidFill>
                <a:prstClr val="black"/>
              </a:solidFill>
              <a:cs typeface="Calibri"/>
            </a:endParaRPr>
          </a:p>
          <a:p>
            <a:pPr marL="171450" lvl="0" indent="-171450">
              <a:buFont typeface="Arial" panose="020B0604020202020204" pitchFamily="34" charset="0"/>
              <a:buChar char="•"/>
              <a:tabLst>
                <a:tab pos="328930" algn="l"/>
                <a:tab pos="329565" algn="l"/>
              </a:tabLst>
              <a:defRPr/>
            </a:pPr>
            <a:r>
              <a:rPr lang="en-IN" sz="1000" dirty="0">
                <a:solidFill>
                  <a:prstClr val="black"/>
                </a:solidFill>
                <a:cs typeface="Calibri"/>
              </a:rPr>
              <a:t>Reached the final round of Capgemini’s internal hackathon during bench period, demonstrating rapid prototyping, problem‑solving, and team collaboration.</a:t>
            </a:r>
          </a:p>
          <a:p>
            <a:pPr marL="171450" lvl="0" indent="-171450">
              <a:buFont typeface="Arial" panose="020B0604020202020204" pitchFamily="34" charset="0"/>
              <a:buChar char="•"/>
              <a:tabLst>
                <a:tab pos="328930" algn="l"/>
                <a:tab pos="329565" algn="l"/>
              </a:tabLst>
              <a:defRPr/>
            </a:pPr>
            <a:r>
              <a:rPr lang="en-IN" sz="1000" dirty="0">
                <a:solidFill>
                  <a:prstClr val="black"/>
                </a:solidFill>
                <a:cs typeface="Calibri"/>
              </a:rPr>
              <a:t>Contributed to solution architecture, backend logic, and presentation materials under competitive and time‑pressured conditions. Strengthened creative engineering abilities through hands‑on innovation challenges.</a:t>
            </a:r>
          </a:p>
          <a:p>
            <a:pPr lvl="0">
              <a:tabLst>
                <a:tab pos="328930" algn="l"/>
                <a:tab pos="329565" algn="l"/>
              </a:tabLst>
              <a:defRPr/>
            </a:pPr>
            <a:r>
              <a:rPr lang="en-IN" sz="1000" b="1" dirty="0">
                <a:solidFill>
                  <a:prstClr val="black"/>
                </a:solidFill>
                <a:cs typeface="Calibri"/>
              </a:rPr>
              <a:t>Technology &amp; Development (Scala Developer – Nordea)</a:t>
            </a:r>
            <a:endParaRPr lang="en-IN" sz="1000" dirty="0">
              <a:solidFill>
                <a:prstClr val="black"/>
              </a:solidFill>
              <a:cs typeface="Calibri"/>
            </a:endParaRPr>
          </a:p>
          <a:p>
            <a:pPr marL="171450" lvl="0" indent="-171450">
              <a:buFont typeface="Arial" panose="020B0604020202020204" pitchFamily="34" charset="0"/>
              <a:buChar char="•"/>
              <a:tabLst>
                <a:tab pos="328930" algn="l"/>
                <a:tab pos="329565" algn="l"/>
              </a:tabLst>
              <a:defRPr/>
            </a:pPr>
            <a:r>
              <a:rPr lang="en-IN" sz="1000" dirty="0">
                <a:solidFill>
                  <a:prstClr val="black"/>
                </a:solidFill>
                <a:cs typeface="Calibri"/>
              </a:rPr>
              <a:t>Transitioned from operations to a Scala development role, contributing to feature enhancements, logical fixes, and code improvements for 3–4 months.</a:t>
            </a:r>
          </a:p>
          <a:p>
            <a:pPr marL="171450" lvl="0" indent="-171450">
              <a:buFont typeface="Arial" panose="020B0604020202020204" pitchFamily="34" charset="0"/>
              <a:buChar char="•"/>
              <a:tabLst>
                <a:tab pos="328930" algn="l"/>
                <a:tab pos="329565" algn="l"/>
              </a:tabLst>
              <a:defRPr/>
            </a:pPr>
            <a:r>
              <a:rPr lang="en-IN" sz="1000" dirty="0">
                <a:solidFill>
                  <a:prstClr val="black"/>
                </a:solidFill>
                <a:cs typeface="Calibri"/>
              </a:rPr>
              <a:t>Worked with Bitbucket, Jira, Jenkins, IntelliJ, and Helix to support CI/CD and ensure smooth deployment cycles. Enhanced understanding of distributed workflows and Scala‑based data processing components.</a:t>
            </a:r>
          </a:p>
          <a:p>
            <a:pPr lvl="0">
              <a:tabLst>
                <a:tab pos="328930" algn="l"/>
                <a:tab pos="329565" algn="l"/>
              </a:tabLst>
              <a:defRPr/>
            </a:pPr>
            <a:r>
              <a:rPr lang="en-IN" sz="1000" b="1" dirty="0">
                <a:solidFill>
                  <a:prstClr val="black"/>
                </a:solidFill>
                <a:cs typeface="Calibri"/>
              </a:rPr>
              <a:t>Operational Excellence (Nordea – Operations Team)</a:t>
            </a:r>
            <a:endParaRPr lang="en-IN" sz="1000" dirty="0">
              <a:solidFill>
                <a:prstClr val="black"/>
              </a:solidFill>
              <a:cs typeface="Calibri"/>
            </a:endParaRPr>
          </a:p>
          <a:p>
            <a:pPr marL="171450" lvl="0" indent="-171450">
              <a:buFont typeface="Arial" panose="020B0604020202020204" pitchFamily="34" charset="0"/>
              <a:buChar char="•"/>
              <a:tabLst>
                <a:tab pos="328930" algn="l"/>
                <a:tab pos="329565" algn="l"/>
              </a:tabLst>
              <a:defRPr/>
            </a:pPr>
            <a:r>
              <a:rPr lang="en-IN" sz="1000" dirty="0">
                <a:solidFill>
                  <a:prstClr val="black"/>
                </a:solidFill>
                <a:cs typeface="Calibri"/>
              </a:rPr>
              <a:t>Handled workflow monitoring, issue analysis, and daily operational activities to ensure smooth and timely data processing.</a:t>
            </a:r>
            <a:endParaRPr kumimoji="0" lang="en-US" sz="1000" b="0" i="0" u="none" strike="noStrike" kern="1200" cap="none" spc="0" normalizeH="0" baseline="0" noProof="0" dirty="0">
              <a:ln>
                <a:noFill/>
              </a:ln>
              <a:solidFill>
                <a:prstClr val="black"/>
              </a:solidFill>
              <a:effectLst/>
              <a:uLnTx/>
              <a:uFillTx/>
              <a:latin typeface="Ubuntu"/>
              <a:ea typeface="+mn-ea"/>
              <a:cs typeface="Calibri"/>
            </a:endParaRPr>
          </a:p>
        </p:txBody>
      </p:sp>
      <p:sp>
        <p:nvSpPr>
          <p:cNvPr id="14" name="Rectangle 13">
            <a:extLst>
              <a:ext uri="{FF2B5EF4-FFF2-40B4-BE49-F238E27FC236}">
                <a16:creationId xmlns:a16="http://schemas.microsoft.com/office/drawing/2014/main" id="{B30D9D84-38F7-C5E6-B42B-92A6B8F2B30D}"/>
              </a:ext>
            </a:extLst>
          </p:cNvPr>
          <p:cNvSpPr/>
          <p:nvPr/>
        </p:nvSpPr>
        <p:spPr>
          <a:xfrm>
            <a:off x="3446131" y="262583"/>
            <a:ext cx="2651760" cy="307777"/>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400" b="1" i="0" u="none" strike="noStrike" kern="1200" cap="none" spc="0" normalizeH="0" baseline="0" noProof="0" dirty="0">
                <a:ln>
                  <a:noFill/>
                </a:ln>
                <a:solidFill>
                  <a:srgbClr val="002060"/>
                </a:solidFill>
                <a:effectLst/>
                <a:uLnTx/>
                <a:uFillTx/>
                <a:latin typeface="Ubuntu" panose="020B0504030602030204" pitchFamily="34" charset="0"/>
                <a:ea typeface="+mn-ea"/>
                <a:cs typeface="Calibri" pitchFamily="34" charset="0"/>
              </a:rPr>
              <a:t>Professional Background</a:t>
            </a:r>
          </a:p>
        </p:txBody>
      </p:sp>
      <p:cxnSp>
        <p:nvCxnSpPr>
          <p:cNvPr id="15" name="Straight Connector 14">
            <a:extLst>
              <a:ext uri="{FF2B5EF4-FFF2-40B4-BE49-F238E27FC236}">
                <a16:creationId xmlns:a16="http://schemas.microsoft.com/office/drawing/2014/main" id="{A6FD9C32-4E61-FFC6-EB67-EC3B3F0CD3C7}"/>
              </a:ext>
            </a:extLst>
          </p:cNvPr>
          <p:cNvCxnSpPr>
            <a:cxnSpLocks/>
          </p:cNvCxnSpPr>
          <p:nvPr/>
        </p:nvCxnSpPr>
        <p:spPr>
          <a:xfrm>
            <a:off x="3537571" y="634093"/>
            <a:ext cx="2560320" cy="0"/>
          </a:xfrm>
          <a:prstGeom prst="line">
            <a:avLst/>
          </a:prstGeom>
          <a:ln>
            <a:solidFill>
              <a:schemeClr val="tx1"/>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5A2B882B-40A8-82C1-9BE9-B9BDD2B413AF}"/>
              </a:ext>
            </a:extLst>
          </p:cNvPr>
          <p:cNvSpPr/>
          <p:nvPr/>
        </p:nvSpPr>
        <p:spPr>
          <a:xfrm>
            <a:off x="3485608" y="617602"/>
            <a:ext cx="2918981" cy="6017032"/>
          </a:xfrm>
          <a:prstGeom prst="rect">
            <a:avLst/>
          </a:prstGeom>
        </p:spPr>
        <p:txBody>
          <a:bodyPr wrap="square" lIns="91440" tIns="45720" rIns="91440" bIns="45720" anchor="t">
            <a:spAutoFit/>
          </a:bodyPr>
          <a:lstStyle/>
          <a:p>
            <a:pPr marL="171450" lvl="1" indent="-171450">
              <a:spcAft>
                <a:spcPts val="300"/>
              </a:spcAft>
              <a:buSzPct val="100000"/>
              <a:buFont typeface="Arial" panose="020B0604020202020204" pitchFamily="34" charset="0"/>
              <a:buChar char="•"/>
              <a:defRPr/>
            </a:pPr>
            <a:r>
              <a:rPr lang="en-GB" sz="1000" b="1" dirty="0">
                <a:solidFill>
                  <a:prstClr val="black"/>
                </a:solidFill>
                <a:cs typeface="Calibri"/>
              </a:rPr>
              <a:t>Big Data &amp; ETL Development:  </a:t>
            </a:r>
            <a:r>
              <a:rPr lang="en-GB" sz="1000" dirty="0">
                <a:solidFill>
                  <a:prstClr val="black"/>
                </a:solidFill>
                <a:cs typeface="Calibri"/>
              </a:rPr>
              <a:t>3.5+ Years experience working across Big Data ecosystems, including ETL workflows, Hadoop‑based processing, large‑scale data pipelines, and SQL/Scala‑driven transformations. Strong foundation in ingestion, validation, lineage tracking, and data‑quality improvements.</a:t>
            </a:r>
            <a:endParaRPr kumimoji="0" lang="en-GB" sz="1000" b="1" i="0" u="none" strike="noStrike" kern="1200" cap="none" spc="0" normalizeH="0" baseline="0" noProof="0" dirty="0">
              <a:ln>
                <a:noFill/>
              </a:ln>
              <a:solidFill>
                <a:prstClr val="black"/>
              </a:solidFill>
              <a:effectLst/>
              <a:uLnTx/>
              <a:uFillTx/>
              <a:latin typeface="Ubuntu"/>
              <a:ea typeface="+mn-ea"/>
              <a:cs typeface="Calibri"/>
            </a:endParaRPr>
          </a:p>
          <a:p>
            <a:pPr marL="171450" lvl="1" indent="-171450">
              <a:spcAft>
                <a:spcPts val="300"/>
              </a:spcAft>
              <a:buSzPct val="100000"/>
              <a:buFont typeface="Wingdings" panose="05000000000000000000" pitchFamily="2" charset="2"/>
              <a:buChar char="§"/>
              <a:defRPr/>
            </a:pPr>
            <a:r>
              <a:rPr lang="en-IN" sz="1000" b="1" dirty="0">
                <a:solidFill>
                  <a:prstClr val="black"/>
                </a:solidFill>
                <a:cs typeface="Calibri"/>
              </a:rPr>
              <a:t>Data Lineage &amp; Quality </a:t>
            </a:r>
            <a:r>
              <a:rPr lang="en-IN" sz="1000" b="1" dirty="0" err="1">
                <a:solidFill>
                  <a:prstClr val="black"/>
                </a:solidFill>
                <a:cs typeface="Calibri"/>
              </a:rPr>
              <a:t>Assurance:</a:t>
            </a:r>
            <a:r>
              <a:rPr lang="en-IN" sz="1000" dirty="0" err="1">
                <a:solidFill>
                  <a:prstClr val="black"/>
                </a:solidFill>
                <a:cs typeface="Calibri"/>
              </a:rPr>
              <a:t>Executed</a:t>
            </a:r>
            <a:r>
              <a:rPr lang="en-IN" sz="1000" dirty="0">
                <a:solidFill>
                  <a:prstClr val="black"/>
                </a:solidFill>
                <a:cs typeface="Calibri"/>
              </a:rPr>
              <a:t> end‑to‑end data lineage investigations, validated transformation accuracy, and ensured compliance with expected data‑flow standards. Strengthened system reliability by resolving inconsistencies across datasets and workflows.</a:t>
            </a:r>
            <a:endParaRPr kumimoji="0" lang="en-US" sz="1000" i="0" u="none" strike="noStrike" kern="1200" cap="none" spc="0" normalizeH="0" baseline="0" noProof="0" dirty="0">
              <a:ln>
                <a:noFill/>
              </a:ln>
              <a:solidFill>
                <a:prstClr val="black"/>
              </a:solidFill>
              <a:effectLst/>
              <a:uLnTx/>
              <a:uFillTx/>
              <a:latin typeface="Ubuntu"/>
              <a:ea typeface="+mn-ea"/>
              <a:cs typeface="Calibri"/>
            </a:endParaRPr>
          </a:p>
          <a:p>
            <a:pPr marL="171450" lvl="1" indent="-171450">
              <a:spcAft>
                <a:spcPts val="300"/>
              </a:spcAft>
              <a:buSzPct val="100000"/>
              <a:buFont typeface="Wingdings" panose="05000000000000000000" pitchFamily="2" charset="2"/>
              <a:buChar char="§"/>
              <a:defRPr/>
            </a:pPr>
            <a:r>
              <a:rPr lang="en-IN" sz="1000" b="1" dirty="0">
                <a:solidFill>
                  <a:prstClr val="black"/>
                </a:solidFill>
                <a:cs typeface="Calibri"/>
              </a:rPr>
              <a:t>Operational &amp; Production Support</a:t>
            </a:r>
            <a:r>
              <a:rPr lang="en-IN" sz="1000" dirty="0">
                <a:solidFill>
                  <a:prstClr val="black"/>
                </a:solidFill>
                <a:cs typeface="Calibri"/>
              </a:rPr>
              <a:t>Experience in resolving production issues, validating system behaviours, ensuring timely data processing, and collaborating with teams to maintain smooth daily operations. Improved processes through analysis and continuous optimisation</a:t>
            </a:r>
            <a:r>
              <a:rPr lang="en-IN" sz="1000" b="1" dirty="0">
                <a:solidFill>
                  <a:prstClr val="black"/>
                </a:solidFill>
                <a:cs typeface="Calibri"/>
              </a:rPr>
              <a:t>.</a:t>
            </a:r>
          </a:p>
          <a:p>
            <a:pPr marL="171450" lvl="1" indent="-171450">
              <a:spcAft>
                <a:spcPts val="300"/>
              </a:spcAft>
              <a:buSzPct val="100000"/>
              <a:buFont typeface="Arial" panose="020B0604020202020204" pitchFamily="34" charset="0"/>
              <a:buChar char="•"/>
              <a:defRPr/>
            </a:pPr>
            <a:r>
              <a:rPr kumimoji="0" lang="en-GB" sz="1000" b="1" i="0" u="none" strike="noStrike" kern="1200" cap="none" spc="0" normalizeH="0" baseline="0" noProof="0" dirty="0">
                <a:ln>
                  <a:noFill/>
                </a:ln>
                <a:solidFill>
                  <a:prstClr val="black"/>
                </a:solidFill>
                <a:effectLst/>
                <a:uLnTx/>
                <a:uFillTx/>
                <a:latin typeface="Ubuntu"/>
                <a:ea typeface="+mn-ea"/>
                <a:cs typeface="Calibri"/>
              </a:rPr>
              <a:t>Agile Collaboration:</a:t>
            </a:r>
          </a:p>
          <a:p>
            <a:pPr marL="0" lvl="1">
              <a:spcAft>
                <a:spcPts val="300"/>
              </a:spcAft>
              <a:buSzPct val="100000"/>
              <a:defRPr/>
            </a:pPr>
            <a:r>
              <a:rPr lang="en-IN" sz="1000" dirty="0">
                <a:solidFill>
                  <a:prstClr val="black"/>
                </a:solidFill>
                <a:cs typeface="Calibri"/>
              </a:rPr>
              <a:t>Worked closely with  analysts, and developers within Agile/Scrum environments. Actively participated in requirement discussions, sprint activities, and cross‑team coordination to deliver high‑quality features</a:t>
            </a:r>
          </a:p>
          <a:p>
            <a:pPr marL="0" lvl="1">
              <a:spcAft>
                <a:spcPts val="300"/>
              </a:spcAft>
              <a:buSzPct val="100000"/>
              <a:defRPr/>
            </a:pPr>
            <a:endParaRPr lang="en-IN" sz="1000" dirty="0">
              <a:solidFill>
                <a:prstClr val="black"/>
              </a:solidFill>
              <a:cs typeface="Calibri"/>
            </a:endParaRPr>
          </a:p>
          <a:p>
            <a:pPr marL="0" lvl="1">
              <a:spcAft>
                <a:spcPts val="300"/>
              </a:spcAft>
              <a:buSzPct val="100000"/>
              <a:defRPr/>
            </a:pPr>
            <a:endParaRPr lang="en-IN" sz="1000" dirty="0">
              <a:solidFill>
                <a:prstClr val="black"/>
              </a:solidFill>
              <a:cs typeface="Calibri"/>
            </a:endParaRPr>
          </a:p>
          <a:p>
            <a:pPr marL="0" lvl="1">
              <a:spcAft>
                <a:spcPts val="300"/>
              </a:spcAft>
              <a:buSzPct val="100000"/>
              <a:defRPr/>
            </a:pPr>
            <a:endParaRPr lang="en-IN" sz="1000" dirty="0">
              <a:solidFill>
                <a:prstClr val="black"/>
              </a:solidFill>
              <a:cs typeface="Calibri"/>
            </a:endParaRPr>
          </a:p>
          <a:p>
            <a:pPr marL="0" lvl="1">
              <a:spcAft>
                <a:spcPts val="300"/>
              </a:spcAft>
              <a:buSzPct val="100000"/>
              <a:defRPr/>
            </a:pPr>
            <a:endParaRPr lang="en-IN" sz="1000" dirty="0">
              <a:solidFill>
                <a:prstClr val="black"/>
              </a:solidFill>
              <a:cs typeface="Calibri"/>
            </a:endParaRPr>
          </a:p>
          <a:p>
            <a:pPr marL="0" lvl="1">
              <a:spcAft>
                <a:spcPts val="300"/>
              </a:spcAft>
              <a:buSzPct val="100000"/>
              <a:defRPr/>
            </a:pPr>
            <a:endParaRPr lang="en-IN" sz="1000" dirty="0">
              <a:solidFill>
                <a:prstClr val="black"/>
              </a:solidFill>
              <a:cs typeface="Calibri"/>
            </a:endParaRPr>
          </a:p>
        </p:txBody>
      </p:sp>
      <p:cxnSp>
        <p:nvCxnSpPr>
          <p:cNvPr id="17" name="Straight Connector 16">
            <a:extLst>
              <a:ext uri="{FF2B5EF4-FFF2-40B4-BE49-F238E27FC236}">
                <a16:creationId xmlns:a16="http://schemas.microsoft.com/office/drawing/2014/main" id="{F6EA0C6D-43FA-93EB-8211-EBD27CD82914}"/>
              </a:ext>
            </a:extLst>
          </p:cNvPr>
          <p:cNvCxnSpPr>
            <a:cxnSpLocks/>
          </p:cNvCxnSpPr>
          <p:nvPr/>
        </p:nvCxnSpPr>
        <p:spPr>
          <a:xfrm>
            <a:off x="6361699" y="634093"/>
            <a:ext cx="0" cy="6112648"/>
          </a:xfrm>
          <a:prstGeom prst="line">
            <a:avLst/>
          </a:prstGeom>
          <a:ln>
            <a:solidFill>
              <a:srgbClr val="6E0038"/>
            </a:solidFill>
            <a:prstDash val="dash"/>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09CCC8FC-97D0-73CC-1F73-83D371FF2B78}"/>
              </a:ext>
            </a:extLst>
          </p:cNvPr>
          <p:cNvSpPr/>
          <p:nvPr/>
        </p:nvSpPr>
        <p:spPr>
          <a:xfrm>
            <a:off x="3458255" y="5341813"/>
            <a:ext cx="2847432" cy="1246495"/>
          </a:xfrm>
          <a:prstGeom prst="rect">
            <a:avLst/>
          </a:prstGeom>
        </p:spPr>
        <p:txBody>
          <a:bodyPr wrap="square" lIns="91440" tIns="45720" rIns="91440" bIns="45720" anchor="t">
            <a:spAutoFit/>
          </a:bodyPr>
          <a:lstStyle/>
          <a:p>
            <a:pPr marL="188595" marR="0" lvl="1" indent="-188595" algn="l" defTabSz="914400" rtl="0" eaLnBrk="1" fontAlgn="auto" latinLnBrk="0" hangingPunct="1">
              <a:lnSpc>
                <a:spcPct val="100000"/>
              </a:lnSpc>
              <a:spcBef>
                <a:spcPts val="400"/>
              </a:spcBef>
              <a:spcAft>
                <a:spcPts val="400"/>
              </a:spcAft>
              <a:buClrTx/>
              <a:buSzTx/>
              <a:buFont typeface="Wingdings,Sans-Serif"/>
              <a:buChar char="§"/>
              <a:tabLst>
                <a:tab pos="325120" algn="l"/>
                <a:tab pos="325755" algn="l"/>
              </a:tabLst>
              <a:defRPr/>
            </a:pPr>
            <a:endParaRPr kumimoji="0" lang="en-IN" altLang="nl-NL" sz="1100" b="0" i="0" u="none" strike="noStrike" kern="1200" cap="none" spc="0" normalizeH="0" baseline="0" noProof="0" dirty="0">
              <a:ln>
                <a:noFill/>
              </a:ln>
              <a:solidFill>
                <a:prstClr val="black"/>
              </a:solidFill>
              <a:effectLst/>
              <a:uLnTx/>
              <a:uFillTx/>
              <a:latin typeface="Aptos Display" panose="02110004020202020204"/>
              <a:ea typeface="+mn-ea"/>
              <a:cs typeface="+mn-cs"/>
            </a:endParaRPr>
          </a:p>
          <a:p>
            <a:pPr marL="0" marR="0" lvl="1" algn="l" defTabSz="914400" rtl="0" eaLnBrk="1" fontAlgn="auto" latinLnBrk="0" hangingPunct="1">
              <a:lnSpc>
                <a:spcPct val="100000"/>
              </a:lnSpc>
              <a:spcBef>
                <a:spcPts val="400"/>
              </a:spcBef>
              <a:spcAft>
                <a:spcPts val="400"/>
              </a:spcAft>
              <a:buClrTx/>
              <a:buSzTx/>
              <a:tabLst>
                <a:tab pos="325120" algn="l"/>
                <a:tab pos="325755" algn="l"/>
              </a:tabLst>
              <a:defRPr/>
            </a:pPr>
            <a:endParaRPr kumimoji="0" lang="en-IN" altLang="nl-NL" sz="1100" b="0" i="0" u="none" strike="noStrike" kern="1200" cap="none" spc="0" normalizeH="0" baseline="0" noProof="0" dirty="0">
              <a:ln>
                <a:noFill/>
              </a:ln>
              <a:solidFill>
                <a:prstClr val="black"/>
              </a:solidFill>
              <a:effectLst/>
              <a:uLnTx/>
              <a:uFillTx/>
              <a:latin typeface="Aptos Display" panose="02110004020202020204"/>
              <a:ea typeface="+mn-ea"/>
              <a:cs typeface="+mn-cs"/>
            </a:endParaRPr>
          </a:p>
          <a:p>
            <a:pPr marL="188595" marR="0" lvl="1" indent="-188595" algn="l" defTabSz="914400" rtl="0" eaLnBrk="1" fontAlgn="auto" latinLnBrk="0" hangingPunct="1">
              <a:lnSpc>
                <a:spcPct val="100000"/>
              </a:lnSpc>
              <a:spcBef>
                <a:spcPts val="400"/>
              </a:spcBef>
              <a:spcAft>
                <a:spcPts val="400"/>
              </a:spcAft>
              <a:buClrTx/>
              <a:buSzTx/>
              <a:buFont typeface="Wingdings,Sans-Serif"/>
              <a:buChar char="§"/>
              <a:tabLst>
                <a:tab pos="325120" algn="l"/>
                <a:tab pos="325755" algn="l"/>
              </a:tabLst>
              <a:defRPr/>
            </a:pPr>
            <a:endParaRPr lang="en-IN" altLang="nl-NL" sz="1100" dirty="0">
              <a:solidFill>
                <a:prstClr val="black"/>
              </a:solidFill>
              <a:latin typeface="Aptos Display" panose="02110004020202020204"/>
            </a:endParaRPr>
          </a:p>
          <a:p>
            <a:pPr marL="188595" marR="0" lvl="1" indent="-188595" algn="l" defTabSz="914400" rtl="0" eaLnBrk="1" fontAlgn="auto" latinLnBrk="0" hangingPunct="1">
              <a:lnSpc>
                <a:spcPct val="100000"/>
              </a:lnSpc>
              <a:spcBef>
                <a:spcPts val="400"/>
              </a:spcBef>
              <a:spcAft>
                <a:spcPts val="400"/>
              </a:spcAft>
              <a:buClrTx/>
              <a:buSzTx/>
              <a:buFont typeface="Wingdings,Sans-Serif"/>
              <a:buChar char="§"/>
              <a:tabLst>
                <a:tab pos="325120" algn="l"/>
                <a:tab pos="325755" algn="l"/>
              </a:tabLst>
              <a:defRPr/>
            </a:pPr>
            <a:r>
              <a:rPr kumimoji="0" lang="en-IN" altLang="nl-NL" sz="1100" b="0" i="0" u="none" strike="noStrike" kern="1200" cap="none" spc="0" normalizeH="0" baseline="0" noProof="0" dirty="0">
                <a:ln>
                  <a:noFill/>
                </a:ln>
                <a:solidFill>
                  <a:prstClr val="black"/>
                </a:solidFill>
                <a:effectLst/>
                <a:uLnTx/>
                <a:uFillTx/>
                <a:latin typeface="Aptos Display" panose="02110004020202020204"/>
                <a:ea typeface="+mn-ea"/>
                <a:cs typeface="+mn-cs"/>
              </a:rPr>
              <a:t>Bachelor’s of Information Technology –  </a:t>
            </a:r>
            <a:r>
              <a:rPr kumimoji="0" lang="en-IN" altLang="nl-NL" sz="1100" b="1" i="0" u="none" strike="noStrike" kern="1200" cap="none" spc="0" normalizeH="0" baseline="0" noProof="0" dirty="0">
                <a:ln>
                  <a:noFill/>
                </a:ln>
                <a:solidFill>
                  <a:prstClr val="black"/>
                </a:solidFill>
                <a:effectLst/>
                <a:uLnTx/>
                <a:uFillTx/>
                <a:latin typeface="Aptos Display" panose="02110004020202020204"/>
                <a:ea typeface="+mn-ea"/>
                <a:cs typeface="+mn-cs"/>
              </a:rPr>
              <a:t> Mumbai University </a:t>
            </a: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 India</a:t>
            </a:r>
          </a:p>
        </p:txBody>
      </p:sp>
      <p:sp>
        <p:nvSpPr>
          <p:cNvPr id="19" name="Rectangle 18">
            <a:extLst>
              <a:ext uri="{FF2B5EF4-FFF2-40B4-BE49-F238E27FC236}">
                <a16:creationId xmlns:a16="http://schemas.microsoft.com/office/drawing/2014/main" id="{BB3C761A-2BF2-6199-6FA5-2D8D156F6870}"/>
              </a:ext>
            </a:extLst>
          </p:cNvPr>
          <p:cNvSpPr/>
          <p:nvPr/>
        </p:nvSpPr>
        <p:spPr>
          <a:xfrm>
            <a:off x="3521667" y="5728270"/>
            <a:ext cx="2651760" cy="307777"/>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400" b="1" i="0" u="none" strike="noStrike" kern="1200" cap="none" spc="0" normalizeH="0" baseline="0" noProof="0" dirty="0">
                <a:ln>
                  <a:noFill/>
                </a:ln>
                <a:solidFill>
                  <a:srgbClr val="002060"/>
                </a:solidFill>
                <a:effectLst/>
                <a:uLnTx/>
                <a:uFillTx/>
                <a:latin typeface="Ubuntu" panose="020B0504030602030204" pitchFamily="34" charset="0"/>
                <a:ea typeface="+mn-ea"/>
                <a:cs typeface="Calibri" pitchFamily="34" charset="0"/>
              </a:rPr>
              <a:t>Education</a:t>
            </a:r>
          </a:p>
        </p:txBody>
      </p:sp>
      <p:cxnSp>
        <p:nvCxnSpPr>
          <p:cNvPr id="20" name="Straight Connector 19">
            <a:extLst>
              <a:ext uri="{FF2B5EF4-FFF2-40B4-BE49-F238E27FC236}">
                <a16:creationId xmlns:a16="http://schemas.microsoft.com/office/drawing/2014/main" id="{37F2ED78-004B-966B-545A-ECC8918B297D}"/>
              </a:ext>
            </a:extLst>
          </p:cNvPr>
          <p:cNvCxnSpPr>
            <a:cxnSpLocks/>
          </p:cNvCxnSpPr>
          <p:nvPr/>
        </p:nvCxnSpPr>
        <p:spPr>
          <a:xfrm>
            <a:off x="3521667" y="6063343"/>
            <a:ext cx="2560320" cy="0"/>
          </a:xfrm>
          <a:prstGeom prst="line">
            <a:avLst/>
          </a:prstGeom>
          <a:ln>
            <a:solidFill>
              <a:schemeClr val="tx1"/>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AB08716-C30C-9647-EAF3-915ECC85480A}"/>
              </a:ext>
            </a:extLst>
          </p:cNvPr>
          <p:cNvSpPr txBox="1"/>
          <p:nvPr/>
        </p:nvSpPr>
        <p:spPr>
          <a:xfrm>
            <a:off x="109506" y="6485131"/>
            <a:ext cx="2839881" cy="26161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lang="en-US" sz="1100" dirty="0">
                <a:solidFill>
                  <a:srgbClr val="FFFFFF"/>
                </a:solidFill>
                <a:latin typeface="Ubuntu" panose="020B0504030602030204" pitchFamily="34" charset="0"/>
                <a:cs typeface="Calibri"/>
              </a:rPr>
              <a:t>Mumbai</a:t>
            </a:r>
            <a:r>
              <a:rPr kumimoji="0" lang="en-US" sz="1100" b="0" i="0" u="none" strike="noStrike" kern="1200" cap="none" spc="0" normalizeH="0" baseline="0" noProof="0" dirty="0">
                <a:ln>
                  <a:noFill/>
                </a:ln>
                <a:solidFill>
                  <a:srgbClr val="FFFFFF"/>
                </a:solidFill>
                <a:effectLst/>
                <a:uLnTx/>
                <a:uFillTx/>
                <a:latin typeface="Ubuntu" panose="020B0504030602030204" pitchFamily="34" charset="0"/>
                <a:ea typeface="+mn-ea"/>
                <a:cs typeface="Calibri"/>
              </a:rPr>
              <a:t>, India</a:t>
            </a:r>
          </a:p>
        </p:txBody>
      </p:sp>
      <p:pic>
        <p:nvPicPr>
          <p:cNvPr id="22" name="Picture 21">
            <a:extLst>
              <a:ext uri="{FF2B5EF4-FFF2-40B4-BE49-F238E27FC236}">
                <a16:creationId xmlns:a16="http://schemas.microsoft.com/office/drawing/2014/main" id="{3842531C-0187-632A-D3E3-8A05715D0170}"/>
              </a:ext>
            </a:extLst>
          </p:cNvPr>
          <p:cNvPicPr>
            <a:picLocks noChangeAspect="1"/>
          </p:cNvPicPr>
          <p:nvPr/>
        </p:nvPicPr>
        <p:blipFill>
          <a:blip r:embed="rId3">
            <a:extLst>
              <a:ext uri="{28A0092B-C50C-407E-A947-70E740481C1C}">
                <a14:useLocalDpi xmlns:a14="http://schemas.microsoft.com/office/drawing/2010/main" val="0"/>
              </a:ext>
            </a:extLst>
          </a:blip>
          <a:srcRect t="10324" b="10324"/>
          <a:stretch/>
        </p:blipFill>
        <p:spPr>
          <a:xfrm>
            <a:off x="675173" y="47318"/>
            <a:ext cx="1905000" cy="1786159"/>
          </a:xfrm>
          <a:prstGeom prst="ellipse">
            <a:avLst/>
          </a:prstGeom>
          <a:solidFill>
            <a:schemeClr val="bg2"/>
          </a:solidFill>
        </p:spPr>
      </p:pic>
    </p:spTree>
    <p:extLst>
      <p:ext uri="{BB962C8B-B14F-4D97-AF65-F5344CB8AC3E}">
        <p14:creationId xmlns:p14="http://schemas.microsoft.com/office/powerpoint/2010/main" val="6663488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9" id="{8B87859F-8882-4D58-BBE6-26B003739F00}" vid="{23D1FD3C-F867-41B0-98CF-F6DF99F4D0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b5d96ea-ab39-44a0-a6d6-b6f0aac5958b}"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72</TotalTime>
  <Words>630</Words>
  <Application>Microsoft Office PowerPoint</Application>
  <PresentationFormat>Widescreen</PresentationFormat>
  <Paragraphs>41</Paragraphs>
  <Slides>1</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11" baseType="lpstr">
      <vt:lpstr>Aptos</vt:lpstr>
      <vt:lpstr>Aptos Display</vt:lpstr>
      <vt:lpstr>Arial</vt:lpstr>
      <vt:lpstr>Calibri</vt:lpstr>
      <vt:lpstr>Ubuntu</vt:lpstr>
      <vt:lpstr>Ubuntu Medium</vt:lpstr>
      <vt:lpstr>Wingdings</vt:lpstr>
      <vt:lpstr>Wingdings,Sans-Serif</vt:lpstr>
      <vt:lpstr>Capgemini Master 2021</vt:lpstr>
      <vt:lpstr>think-cell Slide</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Steele, Brad</dc:creator>
  <cp:lastModifiedBy>Bansode, Srushti</cp:lastModifiedBy>
  <cp:revision>7</cp:revision>
  <dcterms:created xsi:type="dcterms:W3CDTF">2026-01-21T12:32:33Z</dcterms:created>
  <dcterms:modified xsi:type="dcterms:W3CDTF">2026-02-16T13:22:41Z</dcterms:modified>
</cp:coreProperties>
</file>